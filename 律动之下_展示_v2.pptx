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0" cy="508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0E0E0"/>
                </a:solidFill>
                <a:latin typeface="Arial"/>
              </a:defRPr>
            </a:pPr>
            <a:r>
              <a:t>律动之下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E8C547"/>
                </a:solidFill>
                <a:latin typeface="Arial"/>
              </a:defRPr>
            </a:pPr>
            <a:r>
              <a:t>UnderGrooves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2743200" cy="127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AA"/>
                </a:solidFill>
                <a:latin typeface="Arial"/>
              </a:defRPr>
            </a:pPr>
            <a:r>
              <a:t>音乐推荐与介绍网站 / 项目展示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项目简介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CC"/>
                </a:solidFill>
                <a:latin typeface="Arial"/>
              </a:defRPr>
            </a:pPr>
            <a:r>
              <a:t>律动之下 UnderGrooves</a:t>
            </a:r>
            <a:br/>
            <a:br/>
            <a:r>
              <a:t>专注小众音乐推荐与深度介绍的静态网站</a:t>
            </a:r>
            <a:br/>
            <a:br/>
            <a:r>
              <a:t>收录 15 张专辑，五大音乐板块:</a:t>
            </a:r>
            <a:br/>
            <a:r>
              <a:t>电子音乐 / 摇滚乐 / 嘻哈说唱</a:t>
            </a:r>
            <a:br/>
            <a:r>
              <a:t>华语音乐 / 日系音乐</a:t>
            </a:r>
            <a:br/>
            <a:br/>
            <a:r>
              <a:t>时间跨度: 1967 - 2024</a:t>
            </a:r>
            <a:br/>
            <a:r>
              <a:t>每张专辑: 封面 + 千字介绍</a:t>
            </a:r>
            <a:br/>
            <a:r>
              <a:t>每页: 对应风格背景音乐</a:t>
            </a:r>
            <a:br/>
            <a:br/>
            <a:r>
              <a:t>纯 HTML5 + CSS3</a:t>
            </a:r>
            <a:br/>
            <a:r>
              <a:t>GitHub Pages 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365760" cy="203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801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2张专辑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697480"/>
            <a:ext cx="365760" cy="203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670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718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5张专辑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566160"/>
            <a:ext cx="365760" cy="2032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538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347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840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3张专辑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434839"/>
            <a:ext cx="365760" cy="2032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440740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CB77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7091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2张专辑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5303520"/>
            <a:ext cx="365760" cy="20320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276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A0BF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577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3张专辑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首页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C547"/>
                </a:solidFill>
                <a:latin typeface="Arial"/>
              </a:defRPr>
            </a:pPr>
            <a:r>
              <a:t>网站主入口，五大分类网格，15张专辑卡片</a:t>
            </a:r>
          </a:p>
        </p:txBody>
      </p:sp>
      <p:pic>
        <p:nvPicPr>
          <p:cNvPr id="5" name="Picture 4" descr="首页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39389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Crystal Castles / Daft Punk</a:t>
            </a:r>
          </a:p>
        </p:txBody>
      </p:sp>
      <p:pic>
        <p:nvPicPr>
          <p:cNvPr id="5" name="Picture 4" descr="电子音乐_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724813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6B6B"/>
                </a:solidFill>
                <a:latin typeface="Arial"/>
              </a:defRPr>
            </a:pPr>
            <a:r>
              <a:t>5张专辑，全站最长页面，锚点导航</a:t>
            </a:r>
          </a:p>
        </p:txBody>
      </p:sp>
      <p:pic>
        <p:nvPicPr>
          <p:cNvPr id="5" name="Picture 4" descr="摇滚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52934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347"/>
                </a:solidFill>
                <a:latin typeface="Arial"/>
              </a:defRPr>
            </a:pPr>
            <a:r>
              <a:t>Playboi Carti / Tyler / Higher Brothers</a:t>
            </a:r>
          </a:p>
        </p:txBody>
      </p:sp>
      <p:pic>
        <p:nvPicPr>
          <p:cNvPr id="5" name="Picture 4" descr="嘻哈说唱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72643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CB77"/>
                </a:solidFill>
                <a:latin typeface="Arial"/>
              </a:defRPr>
            </a:pPr>
            <a:r>
              <a:t>王菲 / 陈绮贞</a:t>
            </a:r>
          </a:p>
        </p:txBody>
      </p:sp>
      <p:pic>
        <p:nvPicPr>
          <p:cNvPr id="5" name="Picture 4" descr="华语音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94148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A0BF"/>
                </a:solidFill>
                <a:latin typeface="Arial"/>
              </a:defRPr>
            </a:pPr>
            <a:r>
              <a:t>具岛直子 / 山下达郎 / 杏里</a:t>
            </a:r>
          </a:p>
        </p:txBody>
      </p:sp>
      <p:pic>
        <p:nvPicPr>
          <p:cNvPr id="5" name="Picture 4" descr="日系音乐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900042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457200" cy="3810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0E0E0"/>
                </a:solidFill>
                <a:latin typeface="Arial"/>
              </a:defRPr>
            </a:pPr>
            <a:r>
              <a:t>关于本站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44"/>
                </a:solidFill>
                <a:latin typeface="Arial"/>
              </a:defRPr>
            </a:pPr>
            <a:r>
              <a:t>站点理念 / 专辑年代谱 / 分类速览</a:t>
            </a:r>
          </a:p>
        </p:txBody>
      </p:sp>
      <p:pic>
        <p:nvPicPr>
          <p:cNvPr id="5" name="Picture 4" descr="关于本站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3819557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HTML5 技术运用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10312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89020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89020251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0E0E0"/>
                </a:solidFill>
                <a:latin typeface="Arial"/>
              </a:defRPr>
            </a:pPr>
            <a:r>
              <a:t>语义化标签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902025160" y="24688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&lt;header&gt; &lt;nav&gt; &lt;section&gt;</a:t>
            </a:r>
            <a:br/>
            <a:r>
              <a:t>&lt;footer&gt; &lt;audio&gt;</a:t>
            </a:r>
            <a:br/>
            <a:r>
              <a:t>替代传统 &lt;div&gt;</a:t>
            </a:r>
            <a:br/>
            <a:r>
              <a:t>构建清晰的文档大纲</a:t>
            </a:r>
            <a:br/>
            <a:r>
              <a:t>提升 SEO 与可访问性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45920"/>
            <a:ext cx="210312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592204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92204251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0E0E0"/>
                </a:solidFill>
                <a:latin typeface="Arial"/>
              </a:defRPr>
            </a:pPr>
            <a:r>
              <a:t>&lt;audio&gt; 多媒体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9220425160" y="24688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7个页面嵌入对应风格BGM</a:t>
            </a:r>
            <a:br/>
            <a:r>
              <a:t>loop 循环 / preload="auto"</a:t>
            </a:r>
            <a:br/>
            <a:r>
              <a:t>playsinline iOS兼容</a:t>
            </a:r>
            <a:br/>
            <a:r>
              <a:t>JS交互解锁移动端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645920"/>
            <a:ext cx="210312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95388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95388251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0E0E0"/>
                </a:solidFill>
                <a:latin typeface="Arial"/>
              </a:defRPr>
            </a:pPr>
            <a:r>
              <a:t>锚点链接 Anchor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9538825160" y="24688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摇滚页5张专辑快速跳转</a:t>
            </a:r>
            <a:br/>
            <a:r>
              <a:t>id 定位 + #链接</a:t>
            </a:r>
            <a:br/>
            <a:r>
              <a:t>底部回到顶部链接</a:t>
            </a:r>
            <a:br/>
            <a:r>
              <a:t>长页面阅读友好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45920"/>
            <a:ext cx="210312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398572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98572251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0E0E0"/>
                </a:solidFill>
                <a:latin typeface="Arial"/>
              </a:defRPr>
            </a:pPr>
            <a:r>
              <a:t>外部 CSS 引用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9857225160" y="24688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7个HTML共用一份</a:t>
            </a:r>
            <a:br/>
            <a:r>
              <a:t>style.css</a:t>
            </a:r>
            <a:br/>
            <a:r>
              <a:t>&lt;link rel="stylesheet"&gt;</a:t>
            </a:r>
            <a:br/>
            <a:r>
              <a:t>修改一处，全站生效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645920"/>
            <a:ext cx="2103120" cy="438912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01756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01756251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0E0E0"/>
                </a:solidFill>
                <a:latin typeface="Arial"/>
              </a:defRPr>
            </a:pPr>
            <a:r>
              <a:t>Meta Viewport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0175625160" y="246888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Arial"/>
              </a:defRPr>
            </a:pPr>
            <a:r>
              <a:t>&lt;meta name="viewport"</a:t>
            </a:r>
            <a:br/>
            <a:r>
              <a:t>content="width=device-</a:t>
            </a:r>
            <a:br/>
            <a:r>
              <a:t>width, initial-scale=1.0"&gt;</a:t>
            </a:r>
            <a:br/>
            <a:r>
              <a:t>移动端视口适配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CSS 布局技术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143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5029321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Flexbox 弹性布局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05029321152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导航条 Navbar</a:t>
            </a:r>
            <a:br/>
            <a:r>
              <a:t>7项均分，flex: 1</a:t>
            </a:r>
            <a:br/>
            <a:r>
              <a:t>悬停下划线 + 分类色</a:t>
            </a:r>
            <a:br/>
            <a:r>
              <a:t>过渡 transition 0.3s 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50502932115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专辑详情 Detail</a:t>
            </a:r>
            <a:br/>
            <a:r>
              <a:t>左封面 280px 固定</a:t>
            </a:r>
            <a:br/>
            <a:r>
              <a:t>右介绍 flex: 1 弹性</a:t>
            </a:r>
            <a:br/>
            <a:r>
              <a:t>响应式降级为堆叠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698480" cy="1143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560762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CSS Grid 网格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75607625152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首页卡片网格</a:t>
            </a:r>
            <a:br/>
            <a:r>
              <a:t>三列布局:</a:t>
            </a:r>
            <a:br/>
            <a:r>
              <a:t>grid-template-columns:</a:t>
            </a:r>
            <a:br/>
            <a:r>
              <a:t>repeat(3, 1fr)</a:t>
            </a:r>
            <a:br/>
            <a:r>
              <a:t>gap: 20px 统一间距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7560762515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分类页专辑详情</a:t>
            </a:r>
            <a:br/>
            <a:r>
              <a:t>左图右文 Flex 双栏</a:t>
            </a:r>
            <a:br/>
            <a:r>
              <a:t>左侧 280px 固定</a:t>
            </a:r>
            <a:br/>
            <a:r>
              <a:t>右侧 flex: 1 填充</a:t>
            </a:r>
            <a:br/>
            <a:r>
              <a:t>gap: 30px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10698480" cy="1143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618592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固定宽度居中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46185929152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#container {</a:t>
            </a:r>
            <a:br/>
            <a:r>
              <a:t>  width: 1000px;</a:t>
            </a:r>
            <a:br/>
            <a:r>
              <a:t>  margin: 0 auto;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84618592915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body { margin: 0 }</a:t>
            </a:r>
            <a:br/>
            <a:r>
              <a:t>背景图 fixed 定位</a:t>
            </a:r>
            <a:br/>
            <a:r>
              <a:t>body::before 伪元素遮罩</a:t>
            </a:r>
            <a:br/>
            <a:r>
              <a:t>半透明容器叠加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399"/>
            <a:ext cx="10698480" cy="1143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16763318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Responsive 响应式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16763318752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@media (max-width: 1020px)</a:t>
            </a:r>
            <a:br/>
            <a:r>
              <a:t>container -&gt; 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016763318752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@media (max-width: 768px)</a:t>
            </a:r>
            <a:br/>
            <a:r>
              <a:t>Grid 3列 -&gt; 2列</a:t>
            </a:r>
            <a:br/>
            <a:r>
              <a:t>Flex 双栏 -&gt; 堆叠</a:t>
            </a:r>
            <a:br/>
            <a:r>
              <a:t>导航折行显示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视觉设计体系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6858000" cy="2286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流派专属配色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148840"/>
            <a:ext cx="320040" cy="127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112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电子音乐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12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#00D4FF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122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Arial"/>
              </a:defRPr>
            </a:pPr>
            <a:r>
              <a:t>标题 / 标签 / 边框 / 导航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496312"/>
            <a:ext cx="320040" cy="127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459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Arial"/>
              </a:defRPr>
            </a:pPr>
            <a:r>
              <a:t>摇滚乐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59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#FF6B6B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59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Arial"/>
              </a:defRPr>
            </a:pPr>
            <a:r>
              <a:t>同上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43784"/>
            <a:ext cx="320040" cy="127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807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347"/>
                </a:solidFill>
                <a:latin typeface="Arial"/>
              </a:defRPr>
            </a:pPr>
            <a:r>
              <a:t>嘻哈说唱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#FFB347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807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Arial"/>
              </a:defRPr>
            </a:pPr>
            <a:r>
              <a:t>同上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191256"/>
            <a:ext cx="320040" cy="127000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Arial"/>
              </a:defRPr>
            </a:pPr>
            <a:r>
              <a:t>华语音乐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54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#6BCB77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Arial"/>
              </a:defRPr>
            </a:pPr>
            <a:r>
              <a:t>同上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538728"/>
            <a:ext cx="320040" cy="12700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0BF"/>
                </a:solidFill>
                <a:latin typeface="Arial"/>
              </a:defRPr>
            </a:pPr>
            <a:r>
              <a:t>日系音乐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502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#E8A0BF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502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Arial"/>
              </a:defRPr>
            </a:pPr>
            <a:r>
              <a:t>同上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645920"/>
            <a:ext cx="3383280" cy="2286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字体与排版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9456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字体栈</a:t>
            </a:r>
            <a:br/>
            <a:r>
              <a:t>SF Pro Text</a:t>
            </a:r>
            <a:br/>
            <a:r>
              <a:t>-&gt; PingFang SC</a:t>
            </a:r>
            <a:br/>
            <a:r>
              <a:t>-&gt; Noto Sans SC</a:t>
            </a:r>
            <a:br/>
            <a:r>
              <a:t>-&gt; 微软雅黑</a:t>
            </a:r>
            <a:br/>
            <a:br/>
            <a:r>
              <a:t>正文 15px / 行高 1.9</a:t>
            </a:r>
            <a:br/>
            <a:r>
              <a:t>标题 600-700 字重</a:t>
            </a:r>
            <a:br/>
            <a:r>
              <a:t>antialiased 抗锯齿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06240"/>
            <a:ext cx="5029200" cy="20116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背景与氛围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091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Joy Division</a:t>
            </a:r>
            <a:br/>
            <a:r>
              <a:t>Unknown Pleasures</a:t>
            </a:r>
            <a:br/>
            <a:r>
              <a:t>脉冲星波形图</a:t>
            </a:r>
            <a:br/>
            <a:r>
              <a:t>作为全站背景</a:t>
            </a:r>
            <a:br/>
            <a:br/>
            <a:r>
              <a:t>fixed 固定定位</a:t>
            </a:r>
            <a:br/>
            <a:r>
              <a:t>background-size: cover</a:t>
            </a:r>
            <a:br/>
            <a:r>
              <a:t>body::before 伪元素</a:t>
            </a:r>
            <a:br/>
            <a:r>
              <a:t>叠加 90% 半透明遮罩</a:t>
            </a:r>
            <a:br/>
            <a:r>
              <a:t>呼应「地下」主题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206240"/>
            <a:ext cx="5212080" cy="20116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CSS 动效与交互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091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卡片悬停:</a:t>
            </a:r>
            <a:br/>
            <a:r>
              <a:t>transform translateY(-5px)</a:t>
            </a:r>
            <a:br/>
            <a:r>
              <a:t>box-shadow + border-color</a:t>
            </a:r>
            <a:br/>
            <a:br/>
            <a:r>
              <a:t>封面 filter: brightness(1.1)</a:t>
            </a:r>
            <a:br/>
            <a:r>
              <a:t>transition: all 0.3s ease</a:t>
            </a:r>
            <a:br/>
            <a:br/>
            <a:r>
              <a:t>导航 active 高亮</a:t>
            </a:r>
            <a:br/>
            <a:r>
              <a:t>分类色下划线</a:t>
            </a:r>
            <a:br/>
            <a:r>
              <a:t>锚点标签悬停过渡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页面结构统一框架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  <a:latin typeface="Arial"/>
              </a:defRPr>
            </a:pPr>
            <a:r>
              <a:t>所有 7 个 HTML 页面均基于统一的三段式结构，仅内容区域不同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5029293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#header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05029293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网站标题 + 副标题</a:t>
            </a:r>
            <a:br/>
            <a:r>
              <a:t>.site-title 38px 字间距10px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575439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#navbar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57543917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Flexbox 均分7项导航</a:t>
            </a:r>
            <a:br/>
            <a:r>
              <a:t>active页高亮 + 悬停分类色下划线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005854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#content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10058541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各页面独有内容区域</a:t>
            </a:r>
            <a:br/>
            <a:r>
              <a:t>首页: Grid / 分类: Flex / 关于: 时间线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6400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13411373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Arial"/>
              </a:defRPr>
            </a:pPr>
            <a:r>
              <a:t>#footer + &lt;audio&gt;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134113737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统一页脚 + 隐藏背景音乐</a:t>
            </a:r>
            <a:br/>
            <a:r>
              <a:t>音频解锁脚本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所有页面通过 &lt;link rel="stylesheet" href="css/style.css"&gt; 引入统一外部样式表</a:t>
            </a:r>
            <a:br/>
            <a:r>
              <a:t>HTML 位于根目录 / CSS 位于 css/ / 图片位于 imagefiles/ / 音频位于 audio/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音频实现方案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303520" cy="2286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前端音频架构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&lt;audio id="bgm" src="xxx.mp3"</a:t>
            </a:r>
            <a:br/>
            <a:r>
              <a:t>  loop preload="auto" playsinline&gt;</a:t>
            </a:r>
            <a:br/>
            <a:br/>
            <a:r>
              <a:t>loop: 循环播放不停止</a:t>
            </a:r>
            <a:br/>
            <a:r>
              <a:t>preload="auto": 页面加载即下载</a:t>
            </a:r>
            <a:br/>
            <a:r>
              <a:t>playsinline: iOS 不弹全屏</a:t>
            </a:r>
            <a:br/>
            <a:br/>
            <a:r>
              <a:t>7个页面 X 7首对应风格BGM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645920"/>
            <a:ext cx="4937760" cy="22860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移动端兼容方案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问题: iOS Safari 拦截 autoplay</a:t>
            </a:r>
            <a:br/>
            <a:br/>
            <a:r>
              <a:t>解决: touchend + click 双重监听</a:t>
            </a:r>
            <a:br/>
            <a:r>
              <a:t>+ canplay 事件确保加载完毕</a:t>
            </a:r>
            <a:br/>
            <a:r>
              <a:t>双重条件: touched &amp;&amp; readyState&gt;=2</a:t>
            </a:r>
            <a:br/>
            <a:br/>
            <a:r>
              <a:t>ffmpeg 压缩 44MB-&gt;12.6MB</a:t>
            </a:r>
            <a:br/>
            <a:r>
              <a:t>-vn 去封面图，防移动端误判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Arial"/>
              </a:defRPr>
            </a:pPr>
            <a:r>
              <a:t>音频播放流程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  <a:latin typeface="Arial"/>
              </a:defRPr>
            </a:pPr>
            <a:r>
              <a:t>[1] 页面加载 -&gt; audio preload="auto" 开始下载MP3 -&gt; canplay 事件触发</a:t>
            </a:r>
            <a:br/>
            <a:r>
              <a:t>[2] 用户触摸屏幕 -&gt; touchend 事件 -&gt; touched = true -&gt; tryPlay() 检查条件</a:t>
            </a:r>
            <a:br/>
            <a:r>
              <a:t>[3] 条件满足 (touched=true AND readyState&gt;=2) -&gt; bgm.play() 循环播放</a:t>
            </a:r>
            <a:br/>
            <a:r>
              <a:t>[4] 若音频先加载完 -&gt; 触摸即秒播 / 若用户先触摸 -&gt; 加载完即播放 -&gt; 零感知延迟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部署与版本管理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1031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89020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89020251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E0E0"/>
                </a:solidFill>
                <a:latin typeface="Arial"/>
              </a:defRPr>
            </a:pPr>
            <a:r>
              <a:t>① Git 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902025160" y="23317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git init / git add -A</a:t>
            </a:r>
            <a:br/>
            <a:r>
              <a:t>git commit -m "init"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90202516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Arial"/>
              </a:defRPr>
            </a:pPr>
            <a:r>
              <a:t>本地仓库建立，纳入版本追踪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645920"/>
            <a:ext cx="21031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592204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92204251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E0E0"/>
                </a:solidFill>
                <a:latin typeface="Arial"/>
              </a:defRPr>
            </a:pPr>
            <a:r>
              <a:t>② SSH 密钥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9220425160" y="23317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ssh-keygen -t ed25519</a:t>
            </a:r>
            <a:br/>
            <a:r>
              <a:t>添加公钥至 GitHub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922042516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Arial"/>
              </a:defRPr>
            </a:pPr>
            <a:r>
              <a:t>免密推送，安全加密连接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645920"/>
            <a:ext cx="21031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95388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95388251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E0E0"/>
                </a:solidFill>
                <a:latin typeface="Arial"/>
              </a:defRPr>
            </a:pPr>
            <a:r>
              <a:t>③ 推送远程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9538825160" y="23317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git remote add origin</a:t>
            </a:r>
            <a:br/>
            <a:r>
              <a:t>git push -u origin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953882516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Arial"/>
              </a:defRPr>
            </a:pPr>
            <a:r>
              <a:t>代码上传至 GitHub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645920"/>
            <a:ext cx="21031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398572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98572251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E0E0"/>
                </a:solidFill>
                <a:latin typeface="Arial"/>
              </a:defRPr>
            </a:pPr>
            <a:r>
              <a:t>④ 开启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9857225160" y="23317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Settings -&gt; Pages</a:t>
            </a:r>
            <a:br/>
            <a:r>
              <a:t>Source: main -&gt; Save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985722516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Arial"/>
              </a:defRPr>
            </a:pPr>
            <a:r>
              <a:t>自动部署，HTTPS 默认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645920"/>
            <a:ext cx="2103120" cy="4114800"/>
          </a:xfrm>
          <a:prstGeom prst="rect">
            <a:avLst/>
          </a:prstGeom>
          <a:solidFill>
            <a:srgbClr val="14142A"/>
          </a:solidFill>
          <a:ln w="1270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0175625160" y="1783080"/>
            <a:ext cx="1828800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017562516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0E0E0"/>
                </a:solidFill>
                <a:latin typeface="Arial"/>
              </a:defRPr>
            </a:pPr>
            <a:r>
              <a:t>⑤ 访问网站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0175625160" y="23317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CC"/>
                </a:solidFill>
                <a:latin typeface="Arial"/>
              </a:defRPr>
            </a:pPr>
            <a:r>
              <a:t>https://apartus.</a:t>
            </a:r>
            <a:br/>
            <a:r>
              <a:t>github.io/undergrooves/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017562516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Arial"/>
              </a:defRPr>
            </a:pPr>
            <a:r>
              <a:t>全球 CDN，随时访问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94360"/>
            <a:ext cx="4572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0E0E0"/>
                </a:solidFill>
                <a:latin typeface="Arial"/>
              </a:defRPr>
            </a:pPr>
            <a:r>
              <a:t>项目数据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90197944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8C54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9019794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HTML页面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4592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476943544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47694354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专辑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636891439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0636891439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分类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64592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FFB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650434744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B34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65043474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首 BGM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4592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237180344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6BCB77"/>
                </a:solidFill>
                <a:latin typeface="Arial"/>
              </a:defRPr>
            </a:pPr>
            <a:r>
              <a:t>1067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23718034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行代码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1645920"/>
            <a:ext cx="1691640" cy="1828800"/>
          </a:xfrm>
          <a:prstGeom prst="rect">
            <a:avLst/>
          </a:prstGeom>
          <a:solidFill>
            <a:srgbClr val="14142A"/>
          </a:solidFill>
          <a:ln w="12700">
            <a:solidFill>
              <a:srgbClr val="E8A0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8239259440" y="192024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8A0BF"/>
                </a:solidFill>
                <a:latin typeface="Arial"/>
              </a:defRPr>
            </a:pPr>
            <a:r>
              <a:t>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2392594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Arial"/>
              </a:defRPr>
            </a:pPr>
            <a:r>
              <a:t>压缩比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Arial"/>
              </a:defRPr>
            </a:pPr>
            <a:r>
              <a:t>收录专辑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CC"/>
                </a:solidFill>
                <a:latin typeface="Arial"/>
              </a:defRPr>
            </a:pPr>
            <a:r>
              <a:t>Crystal Castles | Random Access Memories | American Football | Unknown Pleasures | The Velvet Underground &amp; Nico | In the Court of the Crimson King | Sgt. Pepper | Die Lit | Chromakopia | Black Cab | 寓言 | Groupies 吉他手 | miss.G | Big Wave | Heaven Beach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  <a:latin typeface="Arial"/>
              </a:defRPr>
            </a:pPr>
            <a:r>
              <a:t>时间跨度: 1967-2024  ·  电子 / 摇滚 / 嘻哈 / 华语 / 日系  ·  近60年全球音乐版图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C547"/>
                </a:solidFill>
                <a:latin typeface="Arial"/>
              </a:defRPr>
            </a:pPr>
            <a:r>
              <a:t>https://apartus.github.io/undergrooves/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2377440"/>
            <a:ext cx="1828800" cy="381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651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0E0E0"/>
                </a:solidFill>
                <a:latin typeface="Arial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C547"/>
                </a:solidFill>
                <a:latin typeface="Arial"/>
              </a:defRPr>
            </a:pPr>
            <a:r>
              <a:t>律动之下 / UnderGrooves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4206240"/>
            <a:ext cx="1828800" cy="127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https://apartus.github.io/undergrooves/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  <a:latin typeface="Arial"/>
              </a:defRPr>
            </a:pPr>
            <a:r>
              <a:t>潜入律动之下，听见算法之外的频率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Arial"/>
              </a:defRPr>
            </a:pPr>
            <a:r>
              <a:t>2026.06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  <a:latin typeface="Arial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