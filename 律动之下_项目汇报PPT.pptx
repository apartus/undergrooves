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371600"/>
          </a:xfrm>
          <a:prstGeom prst="rect">
            <a:avLst/>
          </a:prstGeom>
          <a:solidFill>
            <a:srgbClr val="06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2000" cy="508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  <a:latin typeface="微软雅黑"/>
              </a:defRPr>
            </a:pPr>
            <a:r>
              <a:t>律动之下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346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FFD700"/>
                </a:solidFill>
                <a:latin typeface="Arial"/>
              </a:defRPr>
            </a:pPr>
            <a:r>
              <a:t>UnderGrooves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74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999999"/>
                </a:solidFill>
                <a:latin typeface="微软雅黑"/>
              </a:defRPr>
            </a:pPr>
            <a:r>
              <a:t>Web 前端开发技术 - 期末课程设计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3891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99999"/>
                </a:solidFill>
                <a:latin typeface="微软雅黑"/>
              </a:defRPr>
            </a:pPr>
            <a:r>
              <a:t>学号：2023423310204    姓名：缑昱甫    学院：东莞理工学院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846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9999"/>
                </a:solidFill>
                <a:latin typeface="微软雅黑"/>
              </a:defRPr>
            </a:pPr>
            <a:r>
              <a:t>完成日期：2026年6月19日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217920"/>
            <a:ext cx="12192000" cy="640080"/>
          </a:xfrm>
          <a:prstGeom prst="rect">
            <a:avLst/>
          </a:prstGeom>
          <a:solidFill>
            <a:srgbClr val="06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217920"/>
            <a:ext cx="12192000" cy="508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微软雅黑"/>
              </a:defRPr>
            </a:pPr>
            <a:r>
              <a:t>目录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99999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737360"/>
            <a:ext cx="1371600" cy="381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2860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FFD700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22860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微软雅黑"/>
              </a:defRPr>
            </a:pPr>
            <a:r>
              <a:t>课题简介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0" y="2633472"/>
            <a:ext cx="8229600" cy="6350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2724912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FFD700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272491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微软雅黑"/>
              </a:defRPr>
            </a:pPr>
            <a:r>
              <a:t>功能需求分析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0" y="3072384"/>
            <a:ext cx="8229600" cy="6350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3163824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FFD700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3163824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微软雅黑"/>
              </a:defRPr>
            </a:pPr>
            <a:r>
              <a:t>网站结构设计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0" y="3511296"/>
            <a:ext cx="8229600" cy="6350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360273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FFD700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3602736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微软雅黑"/>
              </a:defRPr>
            </a:pPr>
            <a:r>
              <a:t>技术实现详解 - HTML5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0" y="3950208"/>
            <a:ext cx="8229600" cy="6350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4041648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FFD700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404164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微软雅黑"/>
              </a:defRPr>
            </a:pPr>
            <a:r>
              <a:t>技术实现详解 - CSS3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86000" y="4389120"/>
            <a:ext cx="8229600" cy="6350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71600" y="44805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FFD700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6000" y="44805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微软雅黑"/>
              </a:defRPr>
            </a:pPr>
            <a:r>
              <a:t>技术实现详解 - 音频与多媒体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86000" y="4828032"/>
            <a:ext cx="8229600" cy="6350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71600" y="4919472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FFD700"/>
                </a:solidFill>
                <a:latin typeface="Arial"/>
              </a:defRPr>
            </a:pPr>
            <a:r>
              <a:t>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86000" y="491947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微软雅黑"/>
              </a:defRPr>
            </a:pPr>
            <a:r>
              <a:t>页面设计说明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86000" y="5266944"/>
            <a:ext cx="8229600" cy="6350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71600" y="5358384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FFD700"/>
                </a:solidFill>
                <a:latin typeface="Arial"/>
              </a:defRPr>
            </a:pPr>
            <a:r>
              <a:t>08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86000" y="5358384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微软雅黑"/>
              </a:defRPr>
            </a:pPr>
            <a:r>
              <a:t>技术要点总结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286000" y="5705856"/>
            <a:ext cx="8229600" cy="6350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71600" y="579729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FFD700"/>
                </a:solidFill>
                <a:latin typeface="Arial"/>
              </a:defRPr>
            </a:pPr>
            <a:r>
              <a:t>09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86000" y="5797296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微软雅黑"/>
              </a:defRPr>
            </a:pPr>
            <a:r>
              <a:t>项目总结与心得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64008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99"/>
                </a:solidFill>
                <a:latin typeface="微软雅黑"/>
              </a:defRPr>
            </a:pPr>
            <a:r>
              <a:t>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D700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0" y="5486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课题简介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515600" cy="381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CCCCCC"/>
                </a:solidFill>
                <a:latin typeface="微软雅黑"/>
              </a:defRPr>
            </a:pPr>
            <a:r>
              <a:t>本课题以音乐推荐与介绍为主题，设计并开发了一个专注于小众音乐的静态网站 ——「律动之下（UnderGrooves）」。</a:t>
            </a:r>
          </a:p>
          <a:p>
            <a:pPr>
              <a:spcAft>
                <a:spcPts val="400"/>
              </a:spcAft>
              <a:defRPr sz="1500">
                <a:solidFill>
                  <a:srgbClr val="CCCCCC"/>
                </a:solidFill>
                <a:latin typeface="微软雅黑"/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CCCCCC"/>
                </a:solidFill>
                <a:latin typeface="微软雅黑"/>
              </a:defRPr>
            </a:pPr>
            <a:r>
              <a:t>网站共 7 个核心页面，收录 15 张专辑，横跨五大音乐板块：</a:t>
            </a:r>
          </a:p>
          <a:p>
            <a:pPr>
              <a:spcAft>
                <a:spcPts val="400"/>
              </a:spcAft>
              <a:defRPr sz="1400">
                <a:solidFill>
                  <a:srgbClr val="FFD700"/>
                </a:solidFill>
                <a:latin typeface="微软雅黑"/>
              </a:defRPr>
            </a:pPr>
            <a:r>
              <a:t>• 电子音乐    • 摇滚乐    • 嘻哈说唱    • 华语音乐    • 日系音乐</a:t>
            </a:r>
          </a:p>
          <a:p>
            <a:pPr>
              <a:spcAft>
                <a:spcPts val="400"/>
              </a:spcAft>
              <a:defRPr sz="1500">
                <a:solidFill>
                  <a:srgbClr val="CCCCCC"/>
                </a:solidFill>
                <a:latin typeface="微软雅黑"/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CCCCCC"/>
                </a:solidFill>
                <a:latin typeface="微软雅黑"/>
              </a:defRPr>
            </a:pPr>
            <a:r>
              <a:t>时间跨度：1967 - 2024（近 60 年全球音乐版图）</a:t>
            </a:r>
          </a:p>
          <a:p>
            <a:pPr>
              <a:spcAft>
                <a:spcPts val="400"/>
              </a:spcAft>
              <a:defRPr sz="1500">
                <a:solidFill>
                  <a:srgbClr val="CCCCCC"/>
                </a:solidFill>
                <a:latin typeface="微软雅黑"/>
              </a:defRPr>
            </a:pPr>
            <a:r>
              <a:t>每张专辑配有封面图片、年份/流派标签与千字级深度介绍</a:t>
            </a:r>
          </a:p>
          <a:p>
            <a:pPr>
              <a:spcAft>
                <a:spcPts val="400"/>
              </a:spcAft>
              <a:defRPr sz="1500">
                <a:solidFill>
                  <a:srgbClr val="CCCCCC"/>
                </a:solidFill>
                <a:latin typeface="微软雅黑"/>
              </a:defRPr>
            </a:pPr>
            <a:r>
              <a:t>每个分类页面配有对应风格的循环背景音乐</a:t>
            </a:r>
          </a:p>
          <a:p>
            <a:pPr>
              <a:spcAft>
                <a:spcPts val="400"/>
              </a:spcAft>
              <a:defRPr sz="1500">
                <a:solidFill>
                  <a:srgbClr val="CCCCCC"/>
                </a:solidFill>
                <a:latin typeface="微软雅黑"/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D700"/>
                </a:solidFill>
                <a:latin typeface="微软雅黑"/>
              </a:defRPr>
            </a:pPr>
            <a:r>
              <a:t>技术栈：HTML5 + CSS3（纯静态，无框架依赖）</a:t>
            </a:r>
          </a:p>
          <a:p>
            <a:pPr>
              <a:spcAft>
                <a:spcPts val="400"/>
              </a:spcAft>
              <a:defRPr sz="1500" b="1">
                <a:solidFill>
                  <a:srgbClr val="FFD700"/>
                </a:solidFill>
                <a:latin typeface="微软雅黑"/>
              </a:defRPr>
            </a:pPr>
            <a:r>
              <a:t>设计原则：结构与样式分离 / 流派专属配色体系 / 移动端音频兼容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99"/>
                </a:solidFill>
                <a:latin typeface="微软雅黑"/>
              </a:defRPr>
            </a:pPr>
            <a:r>
              <a:t>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D700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0" y="5486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功能需求分析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515600" cy="381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554480"/>
          <a:ext cx="1051560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657600"/>
                <a:gridCol w="45720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D700"/>
                          </a:solidFill>
                          <a:latin typeface="微软雅黑"/>
                        </a:defRPr>
                      </a:pPr>
                      <a:r>
                        <a:t>需求项</a:t>
                      </a:r>
                    </a:p>
                  </a:txBody>
                  <a:tcPr>
                    <a:solidFill>
                      <a:srgbClr val="1A22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D700"/>
                          </a:solidFill>
                          <a:latin typeface="微软雅黑"/>
                        </a:defRPr>
                      </a:pPr>
                      <a:r>
                        <a:t>具体要求</a:t>
                      </a:r>
                    </a:p>
                  </a:txBody>
                  <a:tcPr>
                    <a:solidFill>
                      <a:srgbClr val="1A22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D700"/>
                          </a:solidFill>
                          <a:latin typeface="微软雅黑"/>
                        </a:defRPr>
                      </a:pPr>
                      <a:r>
                        <a:t>实现方案</a:t>
                      </a:r>
                    </a:p>
                  </a:txBody>
                  <a:tcPr>
                    <a:solidFill>
                      <a:srgbClr val="1A223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网页数量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6-12 个网页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7 个（1首页 + 5分类 + 1关于）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首页命名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index.html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index.html，标题为网站主题「律动之下」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页面宽度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900-1100px 全站统一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1000px，#container 居中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页面边距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全部设置为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body { margin: 0 }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布局方式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表格或 Div+CSS，居中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Div+CSS（Flexbox + Grid）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栏目完整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须含导航条和页脚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7页统一导航条 + 页脚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锚点链接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长页面提升便利性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摇滚页5个锚点 + 回到顶部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背景设计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背景图片或颜色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暗色主题 + 脉冲星波形图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多媒体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（自选扩展）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每页风格BGM，循环播放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总页数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不多于12页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7页，符合要求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972800" y="64008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99"/>
                </a:solidFill>
                <a:latin typeface="微软雅黑"/>
              </a:defRPr>
            </a:pPr>
            <a:r>
              <a:t>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D700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0" y="5486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网站结构设计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515600" cy="381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700"/>
                </a:solidFill>
                <a:latin typeface="微软雅黑"/>
              </a:defRPr>
            </a:pPr>
            <a:r>
              <a:t>文件结构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微软雅黑"/>
              </a:defRPr>
            </a:pPr>
            <a:r>
              <a:t>律动之下/</a:t>
            </a:r>
            <a:br/>
            <a:r>
              <a:t>├── index.html          # 首页</a:t>
            </a:r>
            <a:br/>
            <a:r>
              <a:t>├── electronic.html     # 电子音乐</a:t>
            </a:r>
            <a:br/>
            <a:r>
              <a:t>├── rock.html           # 摇滚乐</a:t>
            </a:r>
            <a:br/>
            <a:r>
              <a:t>├── hiphop.html         # 嘻哈说唱</a:t>
            </a:r>
            <a:br/>
            <a:r>
              <a:t>├── chinese.html        # 华语音乐</a:t>
            </a:r>
            <a:br/>
            <a:r>
              <a:t>├── japanese.html       # 日系音乐</a:t>
            </a:r>
            <a:br/>
            <a:r>
              <a:t>├── about.html          # 关于本站</a:t>
            </a:r>
            <a:br/>
            <a:r>
              <a:t>├── css/style.css       # 外部样式表</a:t>
            </a:r>
            <a:br/>
            <a:r>
              <a:t>├── imagefiles/         # 15张封面图</a:t>
            </a:r>
            <a:br/>
            <a:r>
              <a:t>├── audio/              # 7首BGM</a:t>
            </a:r>
            <a:br/>
            <a:r>
              <a:t>└── introduction/       # 15篇介绍文本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700"/>
                </a:solidFill>
                <a:latin typeface="微软雅黑"/>
              </a:defRPr>
            </a:pPr>
            <a:r>
              <a:t>页面导航关系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19456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微软雅黑"/>
              </a:defRPr>
            </a:pPr>
            <a:r>
              <a:t>              ┌─── index.html（首页）</a:t>
            </a:r>
            <a:br/>
            <a:r>
              <a:t>              │</a:t>
            </a:r>
            <a:br/>
            <a:r>
              <a:t>    ┌────────┼───────┐</a:t>
            </a:r>
            <a:br/>
            <a:r>
              <a:t>    │    │    │    │    │</a:t>
            </a:r>
            <a:br/>
            <a:r>
              <a:t>  电子   摇滚   嘧哈   华语   日系</a:t>
            </a:r>
            <a:br/>
            <a:r>
              <a:t>  音乐   乐    说唱   音乐   音乐</a:t>
            </a:r>
            <a:br/>
            <a:br/>
            <a:r>
              <a:t>15张专辑按流派分布在 5 个分类页中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1206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700"/>
                </a:solidFill>
                <a:latin typeface="微软雅黑"/>
              </a:defRPr>
            </a:pPr>
            <a:r>
              <a:t>页面概览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31520" y="5486400"/>
          <a:ext cx="105156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560320"/>
                <a:gridCol w="1371600"/>
                <a:gridCol w="475488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D700"/>
                          </a:solidFill>
                          <a:latin typeface="微软雅黑"/>
                        </a:defRPr>
                      </a:pPr>
                      <a:r>
                        <a:t>页面</a:t>
                      </a:r>
                    </a:p>
                  </a:txBody>
                  <a:tcPr>
                    <a:solidFill>
                      <a:srgbClr val="1A22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D700"/>
                          </a:solidFill>
                          <a:latin typeface="微软雅黑"/>
                        </a:defRPr>
                      </a:pPr>
                      <a:r>
                        <a:t>文件</a:t>
                      </a:r>
                    </a:p>
                  </a:txBody>
                  <a:tcPr>
                    <a:solidFill>
                      <a:srgbClr val="1A22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D700"/>
                          </a:solidFill>
                          <a:latin typeface="微软雅黑"/>
                        </a:defRPr>
                      </a:pPr>
                      <a:r>
                        <a:t>专辑数</a:t>
                      </a:r>
                    </a:p>
                  </a:txBody>
                  <a:tcPr>
                    <a:solidFill>
                      <a:srgbClr val="1A22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D700"/>
                          </a:solidFill>
                          <a:latin typeface="微软雅黑"/>
                        </a:defRPr>
                      </a:pPr>
                      <a:r>
                        <a:t>特点</a:t>
                      </a:r>
                    </a:p>
                  </a:txBody>
                  <a:tcPr>
                    <a:solidFill>
                      <a:srgbClr val="1A223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首页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index.html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Hero引言 + 五大分类Grid卡片网格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电子音乐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electronic.html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Crystal Castles / Daft Punk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摇滚乐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rock.html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5锚点导航（全站最长页面）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嘻哈说唱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hiphop.html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Playboi Carti / Tyler / Higher Brothers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华语音乐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chinese.html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王菲《寓言》/ 陈绮贞《Groupies 吉他手》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日系音乐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japanese.html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具岛直子 / 山下达郎 / 杏里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关于本站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about.html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站点理念 / 专辑年代谱时间线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10972800" y="64008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99"/>
                </a:solidFill>
                <a:latin typeface="微软雅黑"/>
              </a:defRPr>
            </a:pPr>
            <a:r>
              <a:t>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D700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0" y="5486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技术实现详解 - HTML5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515600" cy="381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D700"/>
                </a:solidFill>
                <a:latin typeface="微软雅黑"/>
              </a:defRPr>
            </a:pPr>
            <a:r>
              <a:t>HTML5 语义化标签使用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微软雅黑"/>
              </a:defRPr>
            </a:pPr>
            <a:r>
              <a:t>• &lt;header&gt;   — 网站标题与副标题区域，统一布局</a:t>
            </a:r>
            <a:br/>
            <a:r>
              <a:t>• &lt;nav&gt;      — 顶部导航栏，Flexbox 均分 7 项</a:t>
            </a:r>
            <a:br/>
            <a:r>
              <a:t>• &lt;section&gt;  — 首页五大分类分区、关于页各板块</a:t>
            </a:r>
            <a:br/>
            <a:r>
              <a:t>• &lt;footer&gt;   — 页脚信息（站点名称 / 版权 / 链接）</a:t>
            </a:r>
            <a:br/>
            <a:r>
              <a:t>• &lt;audio&gt;    — 隐藏背景音乐元素（7 页各配独立 BGM）</a:t>
            </a:r>
            <a:br/>
            <a:r>
              <a:t>• &lt;a&gt;        — 锚点链接（分类页快速跳转 / 回到顶部）</a:t>
            </a:r>
            <a:br/>
            <a:br/>
            <a:r>
              <a:t>页面结构示例（所有页面遵循统一模板）：</a:t>
            </a:r>
            <a:br/>
            <a:br/>
            <a:r>
              <a:t>&lt;div id="container"&gt;                   &lt;!-- 1000px 居中容器 --&gt;</a:t>
            </a:r>
            <a:br/>
            <a:r>
              <a:t>  &lt;div id="header"&gt;  ...  &lt;/div&gt;       &lt;!-- 头部 --&gt;</a:t>
            </a:r>
            <a:br/>
            <a:r>
              <a:t>  &lt;div id="navbar"&gt;  ...  &lt;/div&gt;       &lt;!-- 导航 --&gt;</a:t>
            </a:r>
            <a:br/>
            <a:r>
              <a:t>  &lt;div id="content"&gt; ...  &lt;/div&gt;       &lt;!-- 内容 --&gt;</a:t>
            </a:r>
            <a:br/>
            <a:r>
              <a:t>  &lt;div id="footer"&gt;  ...  &lt;/div&gt;       &lt;!-- 页脚 --&gt;</a:t>
            </a:r>
            <a:br/>
            <a:r>
              <a:t>  &lt;audio id="bgm"&gt;  ...  &lt;/audio&gt;      &lt;!-- 背景音乐 --&gt;</a:t>
            </a:r>
            <a:br/>
            <a:r>
              <a:t>&lt;/div&gt;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99"/>
                </a:solidFill>
                <a:latin typeface="微软雅黑"/>
              </a:defRPr>
            </a:pPr>
            <a:r>
              <a:t>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D700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0" y="5486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技术实现详解 - CSS3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515600" cy="381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D700"/>
                </a:solidFill>
                <a:latin typeface="微软雅黑"/>
              </a:defRPr>
            </a:pPr>
            <a:r>
              <a:t>CSS3 关键技术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700"/>
                </a:solidFill>
                <a:latin typeface="微软雅黑"/>
              </a:defRPr>
            </a:pPr>
            <a:r>
              <a:t>1. Div+CSS 居中布局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1460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微软雅黑"/>
              </a:defRPr>
            </a:pPr>
            <a:r>
              <a:t>.container {</a:t>
            </a:r>
            <a:br/>
            <a:r>
              <a:t>    width: 1000px;</a:t>
            </a:r>
            <a:br/>
            <a:r>
              <a:t>    margin: 0 auto;</a:t>
            </a:r>
            <a:br/>
            <a:r>
              <a:t>}</a:t>
            </a:r>
            <a:br/>
            <a:r>
              <a:t>body { margin: 0; 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832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700"/>
                </a:solidFill>
                <a:latin typeface="微软雅黑"/>
              </a:defRPr>
            </a:pPr>
            <a:r>
              <a:t>2. CSS Grid 卡片网格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0332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微软雅黑"/>
              </a:defRPr>
            </a:pPr>
            <a:r>
              <a:t>.album-grid {</a:t>
            </a:r>
            <a:br/>
            <a:r>
              <a:t>    display: grid;</a:t>
            </a:r>
            <a:br/>
            <a:r>
              <a:t>    grid-template-columns:</a:t>
            </a:r>
            <a:br/>
            <a:r>
              <a:t>      repeat(3, 1fr);</a:t>
            </a:r>
            <a:br/>
            <a:r>
              <a:t>    gap: 20px;</a:t>
            </a:r>
            <a:br/>
            <a:r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5720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700"/>
                </a:solidFill>
                <a:latin typeface="微软雅黑"/>
              </a:defRPr>
            </a:pPr>
            <a:r>
              <a:t>3. Flexbox 布局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89204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微软雅黑"/>
              </a:defRPr>
            </a:pPr>
            <a:r>
              <a:t>#navbar ul { display: flex; }</a:t>
            </a:r>
            <a:br/>
            <a:r>
              <a:t>.album-detail { display: flex;</a:t>
            </a:r>
            <a:br/>
            <a:r>
              <a:t>  gap: 30px; }</a:t>
            </a:r>
            <a:br/>
            <a:r>
              <a:t>/* 左封面280px + 右介绍弹性 */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7607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700"/>
                </a:solidFill>
                <a:latin typeface="微软雅黑"/>
              </a:defRPr>
            </a:pPr>
            <a:r>
              <a:t>4. 流派专属配色体系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08076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微软雅黑"/>
              </a:defRPr>
            </a:pPr>
            <a:r>
              <a:t>5 大分类各配独立识别色:</a:t>
            </a:r>
            <a:br/>
            <a:r>
              <a:t>电子 #00D4FF / 摇滚 #FF6B6B</a:t>
            </a:r>
            <a:br/>
            <a:r>
              <a:t>嘻哈 #FFB347 / 华语 #6BCB77</a:t>
            </a:r>
            <a:br/>
            <a:r>
              <a:t>日系 #E8A0BF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645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D700"/>
                </a:solidFill>
                <a:latin typeface="微软雅黑"/>
              </a:defRPr>
            </a:pPr>
            <a:r>
              <a:t>响应式 &amp; 动效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微软雅黑"/>
              </a:defRPr>
            </a:pPr>
            <a:r>
              <a:t>5. @media 响应式适配</a:t>
            </a:r>
            <a:br/>
            <a:br/>
            <a:r>
              <a:t>/* 平板 */</a:t>
            </a:r>
            <a:br/>
            <a:r>
              <a:t>@media (max-width: 1020px) {</a:t>
            </a:r>
            <a:br/>
            <a:r>
              <a:t>  #container { width: 96%; }</a:t>
            </a:r>
            <a:br/>
            <a:r>
              <a:t>}</a:t>
            </a:r>
            <a:br/>
            <a:br/>
            <a:r>
              <a:t>/* 手机 */</a:t>
            </a:r>
            <a:br/>
            <a:r>
              <a:t>@media (max-width: 768px) {</a:t>
            </a:r>
            <a:br/>
            <a:r>
              <a:t>  .album-grid { 3列 -&gt; 2列 }</a:t>
            </a:r>
            <a:br/>
            <a:r>
              <a:t>  .album-detail { 双栏 -&gt; 堆叠 }</a:t>
            </a:r>
            <a:br/>
            <a:r>
              <a:t>  #navbar ul { 折行显示 }</a:t>
            </a:r>
            <a:br/>
            <a:r>
              <a:t>}</a:t>
            </a:r>
            <a:br/>
            <a:br/>
            <a:r>
              <a:t>6. CSS 过渡动效</a:t>
            </a:r>
            <a:br/>
            <a:br/>
            <a:r>
              <a:t>.album-card:hover {</a:t>
            </a:r>
            <a:br/>
            <a:r>
              <a:t>  transform: translateY(-5px);</a:t>
            </a:r>
            <a:br/>
            <a:r>
              <a:t>  border-color: 分类色;</a:t>
            </a:r>
            <a:br/>
            <a:r>
              <a:t>}</a:t>
            </a:r>
            <a:br/>
            <a:r>
              <a:t>transition: all 0.3s ease;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6035040"/>
            <a:ext cx="10515600" cy="548640"/>
          </a:xfrm>
          <a:prstGeom prst="rect">
            <a:avLst/>
          </a:prstGeom>
          <a:solidFill>
            <a:srgbClr val="1A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6080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99"/>
                </a:solidFill>
                <a:latin typeface="微软雅黑"/>
              </a:defRPr>
            </a:pPr>
            <a:r>
              <a:t>7 个 HTML 页面通过 &lt;link rel="stylesheet" href="css/style.css"&gt; 共用一份外部样式表，结构与样式完全分离，修改一处全站生效。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008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99"/>
                </a:solidFill>
                <a:latin typeface="微软雅黑"/>
              </a:defRPr>
            </a:pPr>
            <a:r>
              <a:t>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D700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0" y="5486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技术实现详解 - 音频与多媒体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515600" cy="381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700"/>
                </a:solidFill>
                <a:latin typeface="微软雅黑"/>
              </a:defRPr>
            </a:pPr>
            <a:r>
              <a:t>HTML5 Audio 实现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微软雅黑"/>
              </a:defRPr>
            </a:pPr>
            <a:r>
              <a:t>&lt;audio id="bgm"</a:t>
            </a:r>
            <a:br/>
            <a:r>
              <a:t>  src="audio/xxx.mp3"</a:t>
            </a:r>
            <a:br/>
            <a:r>
              <a:t>  loop</a:t>
            </a:r>
            <a:br/>
            <a:r>
              <a:t>  preload="auto"</a:t>
            </a:r>
            <a:br/>
            <a:r>
              <a:t>  playsinline&gt;</a:t>
            </a:r>
            <a:br/>
            <a:r>
              <a:t>&lt;/audio&gt;</a:t>
            </a:r>
            <a:br/>
            <a:br/>
            <a:r>
              <a:t>loop: 循环播放</a:t>
            </a:r>
            <a:br/>
            <a:r>
              <a:t>preload="auto": 页面加载即下载</a:t>
            </a:r>
            <a:br/>
            <a:r>
              <a:t>playsinline: iOS 兼容</a:t>
            </a:r>
            <a:br/>
            <a:br/>
            <a:r>
              <a:t>7 个页面 × 7 首对应风格 BGM</a:t>
            </a:r>
            <a:br/>
            <a:r>
              <a:t>总大小 44MB → 12.6MB (64kbps单声道)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700"/>
                </a:solidFill>
                <a:latin typeface="微软雅黑"/>
              </a:defRPr>
            </a:pPr>
            <a:r>
              <a:t>移动端兼容方案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10312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微软雅黑"/>
              </a:defRPr>
            </a:pPr>
            <a:r>
              <a:t>问题: iOS Safari 拦截 autoplay</a:t>
            </a:r>
            <a:br/>
            <a:br/>
            <a:r>
              <a:t>解决方案:</a:t>
            </a:r>
            <a:br/>
            <a:r>
              <a:t>1. touchend + click 双重事件监听</a:t>
            </a:r>
            <a:br/>
            <a:r>
              <a:t>2. 用户触摸 -&gt; touched = true</a:t>
            </a:r>
            <a:br/>
            <a:r>
              <a:t>3. canplay 事件确保音频加载完毕</a:t>
            </a:r>
            <a:br/>
            <a:r>
              <a:t>4. 双重条件判断:</a:t>
            </a:r>
            <a:br/>
            <a:r>
              <a:t>   touched &amp;&amp; readyState &gt;= 2</a:t>
            </a:r>
            <a:br/>
            <a:r>
              <a:t>   -&gt; bgm.play()</a:t>
            </a:r>
            <a:br/>
            <a:br/>
            <a:r>
              <a:t>MP3 兼容性处理:</a:t>
            </a:r>
            <a:br/>
            <a:r>
              <a:t>ffmpeg -vn 去除封面图流</a:t>
            </a:r>
            <a:br/>
            <a:r>
              <a:t>-map_metadata -1 清除元数据</a:t>
            </a:r>
            <a:br/>
            <a:r>
              <a:t>避免移动端误判为视频文件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5486400"/>
            <a:ext cx="10515600" cy="822960"/>
          </a:xfrm>
          <a:prstGeom prst="rect">
            <a:avLst/>
          </a:prstGeom>
          <a:solidFill>
            <a:srgbClr val="1A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5321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700"/>
                </a:solidFill>
                <a:latin typeface="微软雅黑"/>
              </a:defRPr>
            </a:pPr>
            <a:r>
              <a:t>音频播放流程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806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微软雅黑"/>
              </a:defRPr>
            </a:pPr>
            <a:r>
              <a:t>页面加载 -&gt; 下载MP3 -&gt; canplay事件  |  用户触摸 -&gt; touched=true -&gt; tryPlay() -&gt; 条件满足 -&gt; 循环播放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008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99"/>
                </a:solidFill>
                <a:latin typeface="微软雅黑"/>
              </a:defRPr>
            </a:pPr>
            <a:r>
              <a:t>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D700"/>
                </a:solidFill>
                <a:latin typeface="Arial"/>
              </a:defRPr>
            </a:pPr>
            <a: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0" y="5486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页面设计说明 - 首页与分类页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515600" cy="381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首页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1716375" cy="3474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3035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700"/>
                </a:solidFill>
                <a:latin typeface="微软雅黑"/>
              </a:defRPr>
            </a:pPr>
            <a:r>
              <a:t>首页 (index.html)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66928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微软雅黑"/>
              </a:defRPr>
            </a:pPr>
            <a:r>
              <a:t>Hero引言区 + 五大分类Grid卡片网格</a:t>
            </a:r>
            <a:br/>
            <a:r>
              <a:t>15张专辑卡片：封面/年份/流派标签</a:t>
            </a:r>
            <a:br/>
            <a:r>
              <a:t>悬停上浮动效 + 分类色边框</a:t>
            </a:r>
          </a:p>
        </p:txBody>
      </p:sp>
      <p:pic>
        <p:nvPicPr>
          <p:cNvPr id="8" name="Picture 7" descr="电子音乐_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645920"/>
            <a:ext cx="3387602" cy="34747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0" y="53035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700"/>
                </a:solidFill>
                <a:latin typeface="微软雅黑"/>
              </a:defRPr>
            </a:pPr>
            <a:r>
              <a:t>电子音乐 (electronic.html)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566928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微软雅黑"/>
              </a:defRPr>
            </a:pPr>
            <a:r>
              <a:t>Crystal Castles / Daft Punk</a:t>
            </a:r>
            <a:br/>
            <a:r>
              <a:t>左图右文Flex双栏详情卡片</a:t>
            </a:r>
            <a:br/>
            <a:r>
              <a:t>锚点快速跳转导航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008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99"/>
                </a:solidFill>
                <a:latin typeface="微软雅黑"/>
              </a:defRPr>
            </a:pPr>
            <a:r>
              <a:t>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D700"/>
                </a:solidFill>
                <a:latin typeface="Arial"/>
              </a:defRPr>
            </a:pPr>
            <a: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0" y="5486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页面设计说明 - 摇滚与嘻哈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515600" cy="381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摇滚乐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3247453" cy="3474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3035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700"/>
                </a:solidFill>
                <a:latin typeface="微软雅黑"/>
              </a:defRPr>
            </a:pPr>
            <a:r>
              <a:t>摇滚乐 (rock.html)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66928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微软雅黑"/>
              </a:defRPr>
            </a:pPr>
            <a:r>
              <a:t>5张专辑，全站最长页面</a:t>
            </a:r>
            <a:br/>
            <a:r>
              <a:t>5个锚点导航 + 回到顶部</a:t>
            </a:r>
            <a:br/>
            <a:r>
              <a:t>红色流派识别</a:t>
            </a:r>
          </a:p>
        </p:txBody>
      </p:sp>
      <p:pic>
        <p:nvPicPr>
          <p:cNvPr id="8" name="Picture 7" descr="嘻哈说唱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645920"/>
            <a:ext cx="4822724" cy="34747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0" y="53035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700"/>
                </a:solidFill>
                <a:latin typeface="微软雅黑"/>
              </a:defRPr>
            </a:pPr>
            <a:r>
              <a:t>嘻哈说唱 (hiphop.html)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566928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微软雅黑"/>
              </a:defRPr>
            </a:pPr>
            <a:r>
              <a:t>Playboi Carti / Tyler / Higher Brothers</a:t>
            </a:r>
            <a:br/>
            <a:r>
              <a:t>橙色流派识别</a:t>
            </a:r>
            <a:br/>
            <a:r>
              <a:t>锚点跳转导航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008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99"/>
                </a:solidFill>
                <a:latin typeface="微软雅黑"/>
              </a:defRPr>
            </a:pPr>
            <a: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D700"/>
                </a:solidFill>
                <a:latin typeface="Arial"/>
              </a:defRPr>
            </a:pPr>
            <a: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0" y="5486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页面设计说明 - 华语与日系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515600" cy="381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华语音乐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029200" cy="25888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3035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700"/>
                </a:solidFill>
                <a:latin typeface="微软雅黑"/>
              </a:defRPr>
            </a:pPr>
            <a:r>
              <a:t>华语音乐 (chinese.html)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66928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微软雅黑"/>
              </a:defRPr>
            </a:pPr>
            <a:r>
              <a:t>王菲《寓言》/ 陈绮贞《Groupies 吉他手》</a:t>
            </a:r>
            <a:br/>
            <a:r>
              <a:t>绿色流派识别</a:t>
            </a:r>
          </a:p>
        </p:txBody>
      </p:sp>
      <p:pic>
        <p:nvPicPr>
          <p:cNvPr id="8" name="Picture 7" descr="日系音乐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645920"/>
            <a:ext cx="4947200" cy="34747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0" y="53035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700"/>
                </a:solidFill>
                <a:latin typeface="微软雅黑"/>
              </a:defRPr>
            </a:pPr>
            <a:r>
              <a:t>日系音乐 (japanese.html)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566928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微软雅黑"/>
              </a:defRPr>
            </a:pPr>
            <a:r>
              <a:t>具岛直子 / 山下达郎 / 杏里</a:t>
            </a:r>
            <a:br/>
            <a:r>
              <a:t>粉色流派识别</a:t>
            </a:r>
            <a:br/>
            <a:r>
              <a:t>City Pop 三部曲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008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99"/>
                </a:solidFill>
                <a:latin typeface="微软雅黑"/>
              </a:defRPr>
            </a:pPr>
            <a: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D700"/>
                </a:solidFill>
                <a:latin typeface="Arial"/>
              </a:defRPr>
            </a:pPr>
            <a: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0" y="5486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页面设计说明 - 关于本站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515600" cy="381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关于本站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2738550" cy="3474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3035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700"/>
                </a:solidFill>
                <a:latin typeface="微软雅黑"/>
              </a:defRPr>
            </a:pPr>
            <a:r>
              <a:t>关于本站 (about.html)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66928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微软雅黑"/>
              </a:defRPr>
            </a:pPr>
            <a:r>
              <a:t>站点理念介绍</a:t>
            </a:r>
            <a:br/>
            <a:r>
              <a:t>15张专辑年代谱时间线</a:t>
            </a:r>
            <a:br/>
            <a:r>
              <a:t>五大分类速览列表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008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99"/>
                </a:solidFill>
                <a:latin typeface="微软雅黑"/>
              </a:defRPr>
            </a:pPr>
            <a: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D700"/>
                </a:solidFill>
                <a:latin typeface="Arial"/>
              </a:defRPr>
            </a:pPr>
            <a: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0" y="5486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技术要点总结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515600" cy="381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10515600" cy="868680"/>
          </a:xfrm>
          <a:prstGeom prst="rect">
            <a:avLst/>
          </a:prstGeom>
          <a:solidFill>
            <a:srgbClr val="1A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50292937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700"/>
                </a:solidFill>
                <a:latin typeface="微软雅黑"/>
              </a:defRPr>
            </a:pPr>
            <a:r>
              <a:t>1. 外部统一样式表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505029632048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微软雅黑"/>
              </a:defRPr>
            </a:pPr>
            <a:r>
              <a:t>• 全站 7 个页面共享同一个 style.css</a:t>
            </a:r>
            <a:br/>
            <a:r>
              <a:t>• 结构与表现完全分离</a:t>
            </a:r>
            <a:br/>
            <a:r>
              <a:t>• 代码复用，维护便捷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651760"/>
            <a:ext cx="10515600" cy="868680"/>
          </a:xfrm>
          <a:prstGeom prst="rect">
            <a:avLst/>
          </a:prstGeom>
          <a:solidFill>
            <a:srgbClr val="1A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247693897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700"/>
                </a:solidFill>
                <a:latin typeface="微软雅黑"/>
              </a:defRPr>
            </a:pPr>
            <a:r>
              <a:t>2. Div+CSS 布局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424769728048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微软雅黑"/>
              </a:defRPr>
            </a:pPr>
            <a:r>
              <a:t>• 主容器 1000px 固定宽度居中</a:t>
            </a:r>
            <a:br/>
            <a:r>
              <a:t>• CSS Grid 实现三列卡片网格</a:t>
            </a:r>
            <a:br/>
            <a:r>
              <a:t>• Flexbox 实现导航和双栏详情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657600"/>
            <a:ext cx="10515600" cy="868680"/>
          </a:xfrm>
          <a:prstGeom prst="rect">
            <a:avLst/>
          </a:prstGeom>
          <a:solidFill>
            <a:srgbClr val="1A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3445094857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700"/>
                </a:solidFill>
                <a:latin typeface="微软雅黑"/>
              </a:defRPr>
            </a:pPr>
            <a:r>
              <a:t>3. 流派配色体系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344509824048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微软雅黑"/>
              </a:defRPr>
            </a:pPr>
            <a:r>
              <a:t>• 5 大分类各配独立识别色</a:t>
            </a:r>
            <a:br/>
            <a:r>
              <a:t>• 标题/标签/边框/导航四重统一</a:t>
            </a:r>
            <a:br/>
            <a:r>
              <a:t>• 视觉层次清晰，分类一目了然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663440"/>
            <a:ext cx="10515600" cy="868680"/>
          </a:xfrm>
          <a:prstGeom prst="rect">
            <a:avLst/>
          </a:prstGeom>
          <a:solidFill>
            <a:srgbClr val="1A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2642495817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700"/>
                </a:solidFill>
                <a:latin typeface="微软雅黑"/>
              </a:defRPr>
            </a:pPr>
            <a:r>
              <a:t>4. 语义化 HTML5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264249920048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微软雅黑"/>
              </a:defRPr>
            </a:pPr>
            <a:r>
              <a:t>• header/nav/section/footer 语义化标签</a:t>
            </a:r>
            <a:br/>
            <a:r>
              <a:t>• &lt;audio&gt; 多媒体嵌入</a:t>
            </a:r>
            <a:br/>
            <a:r>
              <a:t>• 锚点链接提升阅读体验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5669280"/>
            <a:ext cx="10515600" cy="868680"/>
          </a:xfrm>
          <a:prstGeom prst="rect">
            <a:avLst/>
          </a:prstGeom>
          <a:solidFill>
            <a:srgbClr val="1A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1839896777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700"/>
                </a:solidFill>
                <a:latin typeface="微软雅黑"/>
              </a:defRPr>
            </a:pPr>
            <a:r>
              <a:t>5. 移动端适配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183990016048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微软雅黑"/>
              </a:defRPr>
            </a:pPr>
            <a:r>
              <a:t>• @media 响应式断点 (768/1020px)</a:t>
            </a:r>
            <a:br/>
            <a:r>
              <a:t>• iOS/Android 音频解锁兼容</a:t>
            </a:r>
            <a:br/>
            <a:r>
              <a:t>• MP3 压缩 + 去封面图处理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008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99"/>
                </a:solidFill>
                <a:latin typeface="微软雅黑"/>
              </a:defRPr>
            </a:pPr>
            <a: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D700"/>
                </a:solidFill>
                <a:latin typeface="Arial"/>
              </a:defRPr>
            </a:pPr>
            <a: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0" y="5486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项目总结与心得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515600" cy="381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D700"/>
                </a:solidFill>
                <a:latin typeface="微软雅黑"/>
              </a:defRPr>
            </a:pPr>
            <a:r>
              <a:t>项目总结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5943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微软雅黑"/>
              </a:defRPr>
            </a:pPr>
            <a:r>
              <a:t>本项目成功实现了一个以音乐推荐为主题的静态前端网站，包含 7 个页面，</a:t>
            </a:r>
            <a:br/>
            <a:r>
              <a:t>收录 15 张专辑，覆盖电子、摇滚、嘻哈、华语、日系五大音乐板块。</a:t>
            </a:r>
            <a:br/>
            <a:br/>
            <a:r>
              <a:t>通过本项目，系统地实践了以下前端技术：</a:t>
            </a:r>
            <a:br/>
            <a:r>
              <a:t>1. HTML5 语义化标签的正确使用</a:t>
            </a:r>
            <a:br/>
            <a:r>
              <a:t>2. CSS3 Flexbox 与 Grid 布局</a:t>
            </a:r>
            <a:br/>
            <a:r>
              <a:t>3. CSS 外部样式表管理与响应式设计</a:t>
            </a:r>
            <a:br/>
            <a:r>
              <a:t>4. Div+CSS 居中布局的实现</a:t>
            </a:r>
            <a:br/>
            <a:r>
              <a:t>5. HTML5 &lt;audio&gt; 多媒体元素与移动端兼容性处理</a:t>
            </a:r>
            <a:br/>
            <a:r>
              <a:t>6. Git 版本控制与 GitHub Pages 静态部署</a:t>
            </a:r>
            <a:br/>
            <a:r>
              <a:t>7. ffmpeg 音频压缩与格式处理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16459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D700"/>
                </a:solidFill>
                <a:latin typeface="微软雅黑"/>
              </a:defRPr>
            </a:pPr>
            <a:r>
              <a:t>心得与收获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210312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微软雅黑"/>
              </a:defRPr>
            </a:pPr>
            <a:r>
              <a:t>• 深入理解了 CSS Flexbox 和 Grid</a:t>
            </a:r>
            <a:br/>
            <a:r>
              <a:t>  的布局思想与实际应用</a:t>
            </a:r>
            <a:br/>
            <a:br/>
            <a:r>
              <a:t>• 掌握了移动端浏览器的</a:t>
            </a:r>
            <a:br/>
            <a:r>
              <a:t>  音频自动播放限制及</a:t>
            </a:r>
            <a:br/>
            <a:r>
              <a:t>  其解决方案</a:t>
            </a:r>
            <a:br/>
            <a:br/>
            <a:r>
              <a:t>• 学会了从设计到部署的</a:t>
            </a:r>
            <a:br/>
            <a:r>
              <a:t>  完整流程</a:t>
            </a:r>
            <a:br/>
            <a:br/>
            <a:r>
              <a:t>• 认识到细节对体验的重要性</a:t>
            </a:r>
            <a:br/>
            <a:r>
              <a:t>  （字体/配色/动效/兼容性）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99"/>
                </a:solidFill>
                <a:latin typeface="微软雅黑"/>
              </a:defRPr>
            </a:pPr>
            <a: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371600"/>
          </a:xfrm>
          <a:prstGeom prst="rect">
            <a:avLst/>
          </a:prstGeom>
          <a:solidFill>
            <a:srgbClr val="06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2000" cy="508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  <a:latin typeface="微软雅黑"/>
              </a:defRPr>
            </a:pPr>
            <a:r>
              <a:t>感谢聆听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918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D700"/>
                </a:solidFill>
                <a:latin typeface="微软雅黑"/>
              </a:defRPr>
            </a:pPr>
            <a:r>
              <a:t>律动之下 / UnderGrooves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4023360"/>
            <a:ext cx="2103120" cy="254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3891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99999"/>
                </a:solidFill>
                <a:latin typeface="微软雅黑"/>
              </a:defRPr>
            </a:pPr>
            <a:r>
              <a:t>https://apartus.github.io/undergrooves/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93776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9999"/>
                </a:solidFill>
                <a:latin typeface="微软雅黑"/>
              </a:defRPr>
            </a:pPr>
            <a:r>
              <a:t>潜入律动之下，听见算法之外的频率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217920"/>
            <a:ext cx="12192000" cy="640080"/>
          </a:xfrm>
          <a:prstGeom prst="rect">
            <a:avLst/>
          </a:prstGeom>
          <a:solidFill>
            <a:srgbClr val="06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217920"/>
            <a:ext cx="12192000" cy="508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